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332"/>
          </a:solidFill>
          <a:ln w="12700">
            <a:solidFill>
              <a:srgbClr val="1A2332">
                <a:alpha val="0"/>
              </a:srgbClr>
            </a:solidFill>
            <a:prstDash val="solid"/>
          </a:ln>
        </p:spPr>
      </p:sp>
      <p:sp>
        <p:nvSpPr>
          <p:cNvPr id="3" name="Shape 1"/>
          <p:cNvSpPr/>
          <p:nvPr/>
        </p:nvSpPr>
        <p:spPr>
          <a:xfrm>
            <a:off x="0" y="0"/>
            <a:ext cx="5852160" cy="6858000"/>
          </a:xfrm>
          <a:prstGeom prst="rect">
            <a:avLst/>
          </a:prstGeom>
          <a:solidFill>
            <a:srgbClr val="0D7377">
              <a:alpha val="94000"/>
            </a:srgbClr>
          </a:solidFill>
          <a:ln w="12700">
            <a:solidFill>
              <a:srgbClr val="0D7377">
                <a:alpha val="0"/>
              </a:srgbClr>
            </a:solidFill>
            <a:prstDash val="solid"/>
          </a:ln>
        </p:spPr>
      </p:sp>
      <p:pic>
        <p:nvPicPr>
          <p:cNvPr id="4" name="Image 0" descr="preencoded.png">    </p:cNvPr>
          <p:cNvPicPr>
            <a:picLocks noChangeAspect="1"/>
          </p:cNvPicPr>
          <p:nvPr/>
        </p:nvPicPr>
        <p:blipFill>
          <a:blip r:embed="rId1">
            <a:alphaModFix amt="28000"/>
            <a:extLst>
              <a:ext uri="{96DAC541-7B7A-43D3-8B79-37D633B846F1}">
                <asvg:svgBlip xmlns:asvg="http://schemas.microsoft.com/office/drawing/2016/SVG/main" r:embed="rId2"/>
              </a:ext>
            </a:extLst>
          </a:blip>
          <a:stretch>
            <a:fillRect/>
          </a:stretch>
        </p:blipFill>
        <p:spPr>
          <a:xfrm>
            <a:off x="9619488" y="45720"/>
            <a:ext cx="2468880" cy="2468880"/>
          </a:xfrm>
          <a:prstGeom prst="rect">
            <a:avLst/>
          </a:prstGeom>
        </p:spPr>
      </p:pic>
      <p:pic>
        <p:nvPicPr>
          <p:cNvPr id="5" name="Image 1" descr="preencoded.png">    </p:cNvPr>
          <p:cNvPicPr>
            <a:picLocks noChangeAspect="1"/>
          </p:cNvPicPr>
          <p:nvPr/>
        </p:nvPicPr>
        <p:blipFill>
          <a:blip r:embed="rId3">
            <a:alphaModFix amt="72000"/>
            <a:extLst>
              <a:ext uri="{96DAC541-7B7A-43D3-8B79-37D633B846F1}">
                <asvg:svgBlip xmlns:asvg="http://schemas.microsoft.com/office/drawing/2016/SVG/main" r:embed="rId4"/>
              </a:ext>
            </a:extLst>
          </a:blip>
          <a:stretch>
            <a:fillRect/>
          </a:stretch>
        </p:blipFill>
        <p:spPr>
          <a:xfrm>
            <a:off x="146304" y="6144768"/>
            <a:ext cx="1143000" cy="566928"/>
          </a:xfrm>
          <a:prstGeom prst="rect">
            <a:avLst/>
          </a:prstGeom>
        </p:spPr>
      </p:pic>
      <p:sp>
        <p:nvSpPr>
          <p:cNvPr id="6" name="Shape 2"/>
          <p:cNvSpPr/>
          <p:nvPr/>
        </p:nvSpPr>
        <p:spPr>
          <a:xfrm>
            <a:off x="566928" y="475488"/>
            <a:ext cx="1783080" cy="256032"/>
          </a:xfrm>
          <a:prstGeom prst="roundRect">
            <a:avLst>
              <a:gd name="adj" fmla="val 28571"/>
            </a:avLst>
          </a:prstGeom>
          <a:solidFill>
            <a:srgbClr val="C8A951"/>
          </a:solidFill>
          <a:ln w="12700">
            <a:solidFill>
              <a:srgbClr val="C8A951">
                <a:alpha val="0"/>
              </a:srgbClr>
            </a:solidFill>
            <a:prstDash val="solid"/>
          </a:ln>
        </p:spPr>
      </p:sp>
      <p:sp>
        <p:nvSpPr>
          <p:cNvPr id="7" name="Text 3"/>
          <p:cNvSpPr/>
          <p:nvPr/>
        </p:nvSpPr>
        <p:spPr>
          <a:xfrm>
            <a:off x="566928" y="502920"/>
            <a:ext cx="1783080" cy="237744"/>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GIỚI THIỆU WEBSITE</a:t>
            </a:r>
            <a:endParaRPr lang="vi-VN" sz="800" dirty="0"/>
          </a:p>
        </p:txBody>
      </p:sp>
      <p:sp>
        <p:nvSpPr>
          <p:cNvPr id="8" name="Text 4"/>
          <p:cNvSpPr/>
          <p:nvPr/>
        </p:nvSpPr>
        <p:spPr>
          <a:xfrm>
            <a:off x="566928" y="859536"/>
            <a:ext cx="5257800" cy="685800"/>
          </a:xfrm>
          <a:prstGeom prst="rect">
            <a:avLst/>
          </a:prstGeom>
          <a:noFill/>
          <a:ln/>
        </p:spPr>
        <p:txBody>
          <a:bodyPr wrap="square" lIns="0" tIns="0" rIns="0" bIns="0" rtlCol="0" anchor="t"/>
          <a:lstStyle/>
          <a:p>
            <a:pPr algn="l" indent="0" marL="0">
              <a:buNone/>
            </a:pPr>
            <a:r>
              <a:rPr lang="vi-VN" altLang="en-US" sz="2672" b="1" dirty="0">
                <a:solidFill>
                  <a:srgbClr val="FFFFFF"/>
                </a:solidFill>
                <a:latin typeface="Georgia" pitchFamily="34" charset="0"/>
                <a:ea typeface="Georgia" pitchFamily="34" charset="-122"/>
                <a:cs typeface="Georgia" pitchFamily="34" charset="-120"/>
              </a:rPr>
              <a:t>ACM23 Conference Website</a:t>
            </a:r>
            <a:endParaRPr lang="vi-VN" sz="2672" dirty="0"/>
          </a:p>
        </p:txBody>
      </p:sp>
      <p:sp>
        <p:nvSpPr>
          <p:cNvPr id="9" name="Text 5"/>
          <p:cNvSpPr/>
          <p:nvPr/>
        </p:nvSpPr>
        <p:spPr>
          <a:xfrm>
            <a:off x="566928" y="1627632"/>
            <a:ext cx="5212080" cy="1024128"/>
          </a:xfrm>
          <a:prstGeom prst="rect">
            <a:avLst/>
          </a:prstGeom>
          <a:noFill/>
          <a:ln/>
        </p:spPr>
        <p:txBody>
          <a:bodyPr wrap="square" lIns="0" tIns="0" rIns="0" bIns="0" rtlCol="0" anchor="t"/>
          <a:lstStyle/>
          <a:p>
            <a:pPr algn="l" indent="0" marL="0">
              <a:buNone/>
            </a:pPr>
            <a:r>
              <a:rPr lang="vi-VN" altLang="en-US" sz="1341" dirty="0">
                <a:solidFill>
                  <a:srgbClr val="E7F3F4"/>
                </a:solidFill>
                <a:latin typeface="Arial" pitchFamily="34" charset="0"/>
                <a:ea typeface="Arial" pitchFamily="34" charset="-122"/>
                <a:cs typeface="Arial" pitchFamily="34" charset="-120"/>
              </a:rPr>
              <a:t>Cổng thông tin chính thức cho hội nghị thường niên ACM lần thứ 23 tại Hà Nội, giúp người tham dự nắm trọn thông tin, hoàn tất đăng ký và gửi tóm tắt nghiên cứu trên cùng một trải nghiệm thống nhất.</a:t>
            </a:r>
            <a:endParaRPr lang="vi-VN" sz="1341" dirty="0"/>
          </a:p>
        </p:txBody>
      </p:sp>
      <p:sp>
        <p:nvSpPr>
          <p:cNvPr id="10" name="Shape 6"/>
          <p:cNvSpPr/>
          <p:nvPr/>
        </p:nvSpPr>
        <p:spPr>
          <a:xfrm>
            <a:off x="566928" y="2816352"/>
            <a:ext cx="5230368" cy="896112"/>
          </a:xfrm>
          <a:prstGeom prst="roundRect">
            <a:avLst>
              <a:gd name="adj" fmla="val 8163"/>
            </a:avLst>
          </a:prstGeom>
          <a:solidFill>
            <a:srgbClr val="103A4B">
              <a:alpha val="88000"/>
            </a:srgbClr>
          </a:solidFill>
          <a:ln w="12700">
            <a:solidFill>
              <a:srgbClr val="14919B">
                <a:alpha val="70000"/>
              </a:srgbClr>
            </a:solidFill>
            <a:prstDash val="solid"/>
          </a:ln>
        </p:spPr>
      </p:sp>
      <p:sp>
        <p:nvSpPr>
          <p:cNvPr id="11" name="Shape 7"/>
          <p:cNvSpPr/>
          <p:nvPr/>
        </p:nvSpPr>
        <p:spPr>
          <a:xfrm>
            <a:off x="768096" y="2962656"/>
            <a:ext cx="859536" cy="182880"/>
          </a:xfrm>
          <a:prstGeom prst="roundRect">
            <a:avLst>
              <a:gd name="adj" fmla="val 40000"/>
            </a:avLst>
          </a:prstGeom>
          <a:solidFill>
            <a:srgbClr val="0AD3A1"/>
          </a:solidFill>
          <a:ln w="12700">
            <a:solidFill>
              <a:srgbClr val="0AD3A1">
                <a:alpha val="0"/>
              </a:srgbClr>
            </a:solidFill>
            <a:prstDash val="solid"/>
          </a:ln>
        </p:spPr>
      </p:sp>
      <p:sp>
        <p:nvSpPr>
          <p:cNvPr id="12" name="Text 8"/>
          <p:cNvSpPr/>
          <p:nvPr/>
        </p:nvSpPr>
        <p:spPr>
          <a:xfrm>
            <a:off x="768096" y="2990088"/>
            <a:ext cx="859536" cy="164592"/>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Vai trò</a:t>
            </a:r>
            <a:endParaRPr lang="vi-VN" sz="800" dirty="0"/>
          </a:p>
        </p:txBody>
      </p:sp>
      <p:sp>
        <p:nvSpPr>
          <p:cNvPr id="13" name="Text 9"/>
          <p:cNvSpPr/>
          <p:nvPr/>
        </p:nvSpPr>
        <p:spPr>
          <a:xfrm>
            <a:off x="1810512" y="2926080"/>
            <a:ext cx="3657600" cy="201168"/>
          </a:xfrm>
          <a:prstGeom prst="rect">
            <a:avLst/>
          </a:prstGeom>
          <a:noFill/>
          <a:ln/>
        </p:spPr>
        <p:txBody>
          <a:bodyPr wrap="square" lIns="0" tIns="0" rIns="0" bIns="0" rtlCol="0" anchor="t"/>
          <a:lstStyle/>
          <a:p>
            <a:pPr algn="l" indent="0" marL="0">
              <a:buNone/>
            </a:pPr>
            <a:r>
              <a:rPr lang="vi-VN" altLang="en-US" sz="1100" b="1" dirty="0">
                <a:solidFill>
                  <a:srgbClr val="FFFFFF"/>
                </a:solidFill>
                <a:latin typeface="Arial" pitchFamily="34" charset="0"/>
                <a:ea typeface="Arial" pitchFamily="34" charset="-122"/>
                <a:cs typeface="Arial" pitchFamily="34" charset="-120"/>
              </a:rPr>
              <a:t>Một điểm chạm duy nhất cho người tham dự quốc tế</a:t>
            </a:r>
            <a:endParaRPr lang="vi-VN" sz="1100" dirty="0"/>
          </a:p>
        </p:txBody>
      </p:sp>
      <p:sp>
        <p:nvSpPr>
          <p:cNvPr id="14" name="Text 10"/>
          <p:cNvSpPr/>
          <p:nvPr/>
        </p:nvSpPr>
        <p:spPr>
          <a:xfrm>
            <a:off x="768096" y="3200400"/>
            <a:ext cx="4736592" cy="310896"/>
          </a:xfrm>
          <a:prstGeom prst="rect">
            <a:avLst/>
          </a:prstGeom>
          <a:noFill/>
          <a:ln/>
        </p:spPr>
        <p:txBody>
          <a:bodyPr wrap="square" lIns="0" tIns="0" rIns="0" bIns="0" rtlCol="0" anchor="t"/>
          <a:lstStyle/>
          <a:p>
            <a:pPr algn="l" indent="0" marL="0">
              <a:buNone/>
            </a:pPr>
            <a:r>
              <a:rPr lang="vi-VN" altLang="en-US" sz="950" dirty="0">
                <a:solidFill>
                  <a:srgbClr val="D6E9EA"/>
                </a:solidFill>
                <a:latin typeface="Arial" pitchFamily="34" charset="0"/>
                <a:ea typeface="Arial" pitchFamily="34" charset="-122"/>
                <a:cs typeface="Arial" pitchFamily="34" charset="-120"/>
              </a:rPr>
              <a:t>Website tập trung mọi nội dung quan trọng: giới thiệu hội nghị, chương trình khoa học, diễn giả, mốc thời gian, địa điểm và kênh liên hệ.</a:t>
            </a:r>
            <a:endParaRPr lang="vi-VN" sz="950" dirty="0"/>
          </a:p>
        </p:txBody>
      </p:sp>
      <p:sp>
        <p:nvSpPr>
          <p:cNvPr id="15" name="Shape 11"/>
          <p:cNvSpPr/>
          <p:nvPr/>
        </p:nvSpPr>
        <p:spPr>
          <a:xfrm>
            <a:off x="566928" y="3931920"/>
            <a:ext cx="5230368" cy="896112"/>
          </a:xfrm>
          <a:prstGeom prst="roundRect">
            <a:avLst>
              <a:gd name="adj" fmla="val 8163"/>
            </a:avLst>
          </a:prstGeom>
          <a:solidFill>
            <a:srgbClr val="123F4E">
              <a:alpha val="88000"/>
            </a:srgbClr>
          </a:solidFill>
          <a:ln w="12700">
            <a:solidFill>
              <a:srgbClr val="14919B">
                <a:alpha val="70000"/>
              </a:srgbClr>
            </a:solidFill>
            <a:prstDash val="solid"/>
          </a:ln>
        </p:spPr>
      </p:sp>
      <p:sp>
        <p:nvSpPr>
          <p:cNvPr id="16" name="Shape 12"/>
          <p:cNvSpPr/>
          <p:nvPr/>
        </p:nvSpPr>
        <p:spPr>
          <a:xfrm>
            <a:off x="768096" y="4078224"/>
            <a:ext cx="859536" cy="182880"/>
          </a:xfrm>
          <a:prstGeom prst="roundRect">
            <a:avLst>
              <a:gd name="adj" fmla="val 40000"/>
            </a:avLst>
          </a:prstGeom>
          <a:solidFill>
            <a:srgbClr val="0AD3A1"/>
          </a:solidFill>
          <a:ln w="12700">
            <a:solidFill>
              <a:srgbClr val="0AD3A1">
                <a:alpha val="0"/>
              </a:srgbClr>
            </a:solidFill>
            <a:prstDash val="solid"/>
          </a:ln>
        </p:spPr>
      </p:sp>
      <p:sp>
        <p:nvSpPr>
          <p:cNvPr id="17" name="Text 13"/>
          <p:cNvSpPr/>
          <p:nvPr/>
        </p:nvSpPr>
        <p:spPr>
          <a:xfrm>
            <a:off x="768096" y="4105656"/>
            <a:ext cx="859536" cy="164592"/>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Trải nghiệm</a:t>
            </a:r>
            <a:endParaRPr lang="vi-VN" sz="800" dirty="0"/>
          </a:p>
        </p:txBody>
      </p:sp>
      <p:sp>
        <p:nvSpPr>
          <p:cNvPr id="18" name="Text 14"/>
          <p:cNvSpPr/>
          <p:nvPr/>
        </p:nvSpPr>
        <p:spPr>
          <a:xfrm>
            <a:off x="1810512" y="4041648"/>
            <a:ext cx="3657600" cy="201168"/>
          </a:xfrm>
          <a:prstGeom prst="rect">
            <a:avLst/>
          </a:prstGeom>
          <a:noFill/>
          <a:ln/>
        </p:spPr>
        <p:txBody>
          <a:bodyPr wrap="square" lIns="0" tIns="0" rIns="0" bIns="0" rtlCol="0" anchor="t"/>
          <a:lstStyle/>
          <a:p>
            <a:pPr algn="l" indent="0" marL="0">
              <a:buNone/>
            </a:pPr>
            <a:r>
              <a:rPr lang="vi-VN" altLang="en-US" sz="1100" b="1" dirty="0">
                <a:solidFill>
                  <a:srgbClr val="FFFFFF"/>
                </a:solidFill>
                <a:latin typeface="Arial" pitchFamily="34" charset="0"/>
                <a:ea typeface="Arial" pitchFamily="34" charset="-122"/>
                <a:cs typeface="Arial" pitchFamily="34" charset="-120"/>
              </a:rPr>
              <a:t>Rõ ràng, trang trọng, dễ hành động</a:t>
            </a:r>
            <a:endParaRPr lang="vi-VN" sz="1100" dirty="0"/>
          </a:p>
        </p:txBody>
      </p:sp>
      <p:sp>
        <p:nvSpPr>
          <p:cNvPr id="19" name="Text 15"/>
          <p:cNvSpPr/>
          <p:nvPr/>
        </p:nvSpPr>
        <p:spPr>
          <a:xfrm>
            <a:off x="768096" y="4315968"/>
            <a:ext cx="4736592" cy="310896"/>
          </a:xfrm>
          <a:prstGeom prst="rect">
            <a:avLst/>
          </a:prstGeom>
          <a:noFill/>
          <a:ln/>
        </p:spPr>
        <p:txBody>
          <a:bodyPr wrap="square" lIns="0" tIns="0" rIns="0" bIns="0" rtlCol="0" anchor="t"/>
          <a:lstStyle/>
          <a:p>
            <a:pPr algn="l" indent="0" marL="0">
              <a:buNone/>
            </a:pPr>
            <a:r>
              <a:rPr lang="vi-VN" altLang="en-US" sz="950" dirty="0">
                <a:solidFill>
                  <a:srgbClr val="D6E9EA"/>
                </a:solidFill>
                <a:latin typeface="Arial" pitchFamily="34" charset="0"/>
                <a:ea typeface="Arial" pitchFamily="34" charset="-122"/>
                <a:cs typeface="Arial" pitchFamily="34" charset="-120"/>
              </a:rPr>
              <a:t>Nút đăng ký và gửi tóm tắt được đặt nổi bật; nội dung thực tiễn như lịch, venue và travel được ưu tiên để người xem ra quyết định nhanh.</a:t>
            </a:r>
            <a:endParaRPr lang="vi-VN" sz="950" dirty="0"/>
          </a:p>
        </p:txBody>
      </p:sp>
      <p:sp>
        <p:nvSpPr>
          <p:cNvPr id="20" name="Text 16"/>
          <p:cNvSpPr/>
          <p:nvPr/>
        </p:nvSpPr>
        <p:spPr>
          <a:xfrm>
            <a:off x="566928" y="5157216"/>
            <a:ext cx="2651760" cy="734568"/>
          </a:xfrm>
          <a:prstGeom prst="rect">
            <a:avLst/>
          </a:prstGeom>
          <a:noFill/>
          <a:ln/>
        </p:spPr>
        <p:txBody>
          <a:bodyPr wrap="square" lIns="0" tIns="0" rIns="0" bIns="0" rtlCol="0" anchor="t"/>
          <a:lstStyle/>
          <a:p>
            <a:pPr algn="l" indent="0" marL="0">
              <a:buNone/>
            </a:pPr>
            <a:r>
              <a:rPr lang="vi-VN" altLang="en-US" sz="1197" b="1" dirty="0">
                <a:solidFill>
                  <a:srgbClr val="F5E8BE"/>
                </a:solidFill>
                <a:latin typeface="Arial" pitchFamily="34" charset="0"/>
                <a:ea typeface="Arial" pitchFamily="34" charset="-122"/>
                <a:cs typeface="Arial" pitchFamily="34" charset="-120"/>
              </a:rPr>
              <a:t>Nội dung nổi bật của website</a:t>
            </a:r>
            <a:endParaRPr lang="vi-VN" sz="1197" dirty="0"/>
          </a:p>
        </p:txBody>
      </p:sp>
      <p:sp>
        <p:nvSpPr>
          <p:cNvPr id="21" name="Shape 17"/>
          <p:cNvSpPr/>
          <p:nvPr/>
        </p:nvSpPr>
        <p:spPr>
          <a:xfrm>
            <a:off x="621792" y="5559552"/>
            <a:ext cx="91440" cy="91440"/>
          </a:xfrm>
          <a:prstGeom prst="ellipse">
            <a:avLst/>
          </a:prstGeom>
          <a:solidFill>
            <a:srgbClr val="C8A951"/>
          </a:solidFill>
          <a:ln w="12700">
            <a:solidFill>
              <a:srgbClr val="C8A951">
                <a:alpha val="0"/>
              </a:srgbClr>
            </a:solidFill>
            <a:prstDash val="solid"/>
          </a:ln>
        </p:spPr>
      </p:sp>
      <p:sp>
        <p:nvSpPr>
          <p:cNvPr id="22" name="Text 18"/>
          <p:cNvSpPr/>
          <p:nvPr/>
        </p:nvSpPr>
        <p:spPr>
          <a:xfrm>
            <a:off x="786384" y="5513832"/>
            <a:ext cx="4480560" cy="164592"/>
          </a:xfrm>
          <a:prstGeom prst="rect">
            <a:avLst/>
          </a:prstGeom>
          <a:noFill/>
          <a:ln/>
        </p:spPr>
        <p:txBody>
          <a:bodyPr wrap="square" lIns="0" tIns="0" rIns="0" bIns="0" rtlCol="0" anchor="t"/>
          <a:lstStyle/>
          <a:p>
            <a:pPr algn="l" indent="0" marL="0">
              <a:buNone/>
            </a:pPr>
            <a:r>
              <a:rPr lang="vi-VN" altLang="en-US" sz="900" dirty="0">
                <a:solidFill>
                  <a:srgbClr val="FFFFFF"/>
                </a:solidFill>
                <a:latin typeface="Arial" pitchFamily="34" charset="0"/>
                <a:ea typeface="Arial" pitchFamily="34" charset="-122"/>
                <a:cs typeface="Arial" pitchFamily="34" charset="-120"/>
              </a:rPr>
              <a:t>Đăng ký tham dự và gửi abstract trực tuyến</a:t>
            </a:r>
            <a:endParaRPr lang="vi-VN" sz="900" dirty="0"/>
          </a:p>
        </p:txBody>
      </p:sp>
      <p:sp>
        <p:nvSpPr>
          <p:cNvPr id="23" name="Shape 19"/>
          <p:cNvSpPr/>
          <p:nvPr/>
        </p:nvSpPr>
        <p:spPr>
          <a:xfrm>
            <a:off x="621792" y="5870448"/>
            <a:ext cx="91440" cy="91440"/>
          </a:xfrm>
          <a:prstGeom prst="ellipse">
            <a:avLst/>
          </a:prstGeom>
          <a:solidFill>
            <a:srgbClr val="C8A951"/>
          </a:solidFill>
          <a:ln w="12700">
            <a:solidFill>
              <a:srgbClr val="C8A951">
                <a:alpha val="0"/>
              </a:srgbClr>
            </a:solidFill>
            <a:prstDash val="solid"/>
          </a:ln>
        </p:spPr>
      </p:sp>
      <p:sp>
        <p:nvSpPr>
          <p:cNvPr id="24" name="Text 20"/>
          <p:cNvSpPr/>
          <p:nvPr/>
        </p:nvSpPr>
        <p:spPr>
          <a:xfrm>
            <a:off x="786384" y="5824728"/>
            <a:ext cx="4480560" cy="164592"/>
          </a:xfrm>
          <a:prstGeom prst="rect">
            <a:avLst/>
          </a:prstGeom>
          <a:noFill/>
          <a:ln/>
        </p:spPr>
        <p:txBody>
          <a:bodyPr wrap="square" lIns="0" tIns="0" rIns="0" bIns="0" rtlCol="0" anchor="t"/>
          <a:lstStyle/>
          <a:p>
            <a:pPr algn="l" indent="0" marL="0">
              <a:buNone/>
            </a:pPr>
            <a:r>
              <a:rPr lang="vi-VN" altLang="en-US" sz="900" dirty="0">
                <a:solidFill>
                  <a:srgbClr val="FFFFFF"/>
                </a:solidFill>
                <a:latin typeface="Arial" pitchFamily="34" charset="0"/>
                <a:ea typeface="Arial" pitchFamily="34" charset="-122"/>
                <a:cs typeface="Arial" pitchFamily="34" charset="-120"/>
              </a:rPr>
              <a:t>Lịch quan trọng, chương trình và diễn giả</a:t>
            </a:r>
            <a:endParaRPr lang="vi-VN" sz="900" dirty="0"/>
          </a:p>
        </p:txBody>
      </p:sp>
      <p:sp>
        <p:nvSpPr>
          <p:cNvPr id="25" name="Shape 21"/>
          <p:cNvSpPr/>
          <p:nvPr/>
        </p:nvSpPr>
        <p:spPr>
          <a:xfrm>
            <a:off x="621792" y="6181344"/>
            <a:ext cx="91440" cy="91440"/>
          </a:xfrm>
          <a:prstGeom prst="ellipse">
            <a:avLst/>
          </a:prstGeom>
          <a:solidFill>
            <a:srgbClr val="C8A951"/>
          </a:solidFill>
          <a:ln w="12700">
            <a:solidFill>
              <a:srgbClr val="C8A951">
                <a:alpha val="0"/>
              </a:srgbClr>
            </a:solidFill>
            <a:prstDash val="solid"/>
          </a:ln>
        </p:spPr>
      </p:sp>
      <p:sp>
        <p:nvSpPr>
          <p:cNvPr id="26" name="Text 22"/>
          <p:cNvSpPr/>
          <p:nvPr/>
        </p:nvSpPr>
        <p:spPr>
          <a:xfrm>
            <a:off x="786384" y="6135624"/>
            <a:ext cx="4480560" cy="164592"/>
          </a:xfrm>
          <a:prstGeom prst="rect">
            <a:avLst/>
          </a:prstGeom>
          <a:noFill/>
          <a:ln/>
        </p:spPr>
        <p:txBody>
          <a:bodyPr wrap="square" lIns="0" tIns="0" rIns="0" bIns="0" rtlCol="0" anchor="t"/>
          <a:lstStyle/>
          <a:p>
            <a:pPr algn="l" indent="0" marL="0">
              <a:buNone/>
            </a:pPr>
            <a:r>
              <a:rPr lang="vi-VN" altLang="en-US" sz="900" dirty="0">
                <a:solidFill>
                  <a:srgbClr val="FFFFFF"/>
                </a:solidFill>
                <a:latin typeface="Arial" pitchFamily="34" charset="0"/>
                <a:ea typeface="Arial" pitchFamily="34" charset="-122"/>
                <a:cs typeface="Arial" pitchFamily="34" charset="-120"/>
              </a:rPr>
              <a:t>Venue, lưu trú, di chuyển và FAQ cho khách quốc tế</a:t>
            </a:r>
            <a:endParaRPr lang="vi-VN" sz="900" dirty="0"/>
          </a:p>
        </p:txBody>
      </p:sp>
      <p:sp>
        <p:nvSpPr>
          <p:cNvPr id="27" name="Text 23"/>
          <p:cNvSpPr/>
          <p:nvPr/>
        </p:nvSpPr>
        <p:spPr>
          <a:xfrm>
            <a:off x="6784848" y="6382512"/>
            <a:ext cx="4846320" cy="219456"/>
          </a:xfrm>
          <a:prstGeom prst="rect">
            <a:avLst/>
          </a:prstGeom>
          <a:noFill/>
          <a:ln/>
        </p:spPr>
        <p:txBody>
          <a:bodyPr wrap="square" lIns="0" tIns="0" rIns="0" bIns="0" rtlCol="0" anchor="t"/>
          <a:lstStyle/>
          <a:p>
            <a:pPr algn="ctr" indent="0" marL="0">
              <a:buNone/>
            </a:pPr>
            <a:r>
              <a:rPr lang="vi-VN" altLang="en-US" sz="850" i="1" dirty="0">
                <a:solidFill>
                  <a:srgbClr val="D9F1F2"/>
                </a:solidFill>
                <a:latin typeface="Arial" pitchFamily="34" charset="0"/>
                <a:ea typeface="Arial" pitchFamily="34" charset="-122"/>
                <a:cs typeface="Arial" pitchFamily="34" charset="-120"/>
              </a:rPr>
              <a:t>Ngôn ngữ hình ảnh lấy cảm hứng từ rồng thời Lý, hoa sen và họa tiết trống đồng, giúp website vừa mang tính học thuật quốc tế vừa giữ được dấu ấn Việt Nam.</a:t>
            </a:r>
            <a:endParaRPr lang="vi-VN" sz="850" dirty="0"/>
          </a:p>
        </p:txBody>
      </p:sp>
      <p:sp>
        <p:nvSpPr>
          <p:cNvPr id="28" name="Shape 24"/>
          <p:cNvSpPr/>
          <p:nvPr/>
        </p:nvSpPr>
        <p:spPr>
          <a:xfrm>
            <a:off x="6784848" y="658368"/>
            <a:ext cx="4983480" cy="5650992"/>
          </a:xfrm>
          <a:prstGeom prst="roundRect">
            <a:avLst>
              <a:gd name="adj" fmla="val 2202"/>
            </a:avLst>
          </a:prstGeom>
          <a:solidFill>
            <a:srgbClr val="FFFFFF"/>
          </a:solidFill>
          <a:ln w="12700">
            <a:solidFill>
              <a:srgbClr val="CFE0E5"/>
            </a:solidFill>
            <a:prstDash val="solid"/>
          </a:ln>
          <a:effectLst>
            <a:outerShdw sx="100000" sy="100000" kx="0" ky="0" algn="bl" rotWithShape="0" blurRad="50800" dist="25400" dir="2700000">
              <a:srgbClr val="0B2338">
                <a:alpha val="22000"/>
              </a:srgbClr>
            </a:outerShdw>
          </a:effectLst>
        </p:spPr>
      </p:sp>
      <p:sp>
        <p:nvSpPr>
          <p:cNvPr id="29" name="Shape 25"/>
          <p:cNvSpPr/>
          <p:nvPr/>
        </p:nvSpPr>
        <p:spPr>
          <a:xfrm>
            <a:off x="6784848" y="658368"/>
            <a:ext cx="4983480" cy="384048"/>
          </a:xfrm>
          <a:prstGeom prst="rect">
            <a:avLst/>
          </a:prstGeom>
          <a:solidFill>
            <a:srgbClr val="ECF3F5"/>
          </a:solidFill>
          <a:ln w="12700">
            <a:solidFill>
              <a:srgbClr val="ECF3F5">
                <a:alpha val="0"/>
              </a:srgbClr>
            </a:solidFill>
            <a:prstDash val="solid"/>
          </a:ln>
        </p:spPr>
      </p:sp>
      <p:sp>
        <p:nvSpPr>
          <p:cNvPr id="30" name="Shape 26"/>
          <p:cNvSpPr/>
          <p:nvPr/>
        </p:nvSpPr>
        <p:spPr>
          <a:xfrm>
            <a:off x="6949440" y="777240"/>
            <a:ext cx="73152" cy="73152"/>
          </a:xfrm>
          <a:prstGeom prst="ellipse">
            <a:avLst/>
          </a:prstGeom>
          <a:solidFill>
            <a:srgbClr val="F1706B"/>
          </a:solidFill>
          <a:ln w="12700">
            <a:solidFill>
              <a:srgbClr val="F1706B">
                <a:alpha val="0"/>
              </a:srgbClr>
            </a:solidFill>
            <a:prstDash val="solid"/>
          </a:ln>
        </p:spPr>
      </p:sp>
      <p:sp>
        <p:nvSpPr>
          <p:cNvPr id="31" name="Shape 27"/>
          <p:cNvSpPr/>
          <p:nvPr/>
        </p:nvSpPr>
        <p:spPr>
          <a:xfrm>
            <a:off x="7086600" y="777240"/>
            <a:ext cx="73152" cy="73152"/>
          </a:xfrm>
          <a:prstGeom prst="ellipse">
            <a:avLst/>
          </a:prstGeom>
          <a:solidFill>
            <a:srgbClr val="F6C65B"/>
          </a:solidFill>
          <a:ln w="12700">
            <a:solidFill>
              <a:srgbClr val="F6C65B">
                <a:alpha val="0"/>
              </a:srgbClr>
            </a:solidFill>
            <a:prstDash val="solid"/>
          </a:ln>
        </p:spPr>
      </p:sp>
      <p:sp>
        <p:nvSpPr>
          <p:cNvPr id="32" name="Shape 28"/>
          <p:cNvSpPr/>
          <p:nvPr/>
        </p:nvSpPr>
        <p:spPr>
          <a:xfrm>
            <a:off x="7223760" y="777240"/>
            <a:ext cx="73152" cy="73152"/>
          </a:xfrm>
          <a:prstGeom prst="ellipse">
            <a:avLst/>
          </a:prstGeom>
          <a:solidFill>
            <a:srgbClr val="6FD5A7"/>
          </a:solidFill>
          <a:ln w="12700">
            <a:solidFill>
              <a:srgbClr val="6FD5A7">
                <a:alpha val="0"/>
              </a:srgbClr>
            </a:solidFill>
            <a:prstDash val="solid"/>
          </a:ln>
        </p:spPr>
      </p:sp>
      <p:sp>
        <p:nvSpPr>
          <p:cNvPr id="33" name="Shape 29"/>
          <p:cNvSpPr/>
          <p:nvPr/>
        </p:nvSpPr>
        <p:spPr>
          <a:xfrm>
            <a:off x="10149840" y="749808"/>
            <a:ext cx="1188720" cy="182880"/>
          </a:xfrm>
          <a:prstGeom prst="roundRect">
            <a:avLst>
              <a:gd name="adj" fmla="val 40000"/>
            </a:avLst>
          </a:prstGeom>
          <a:solidFill>
            <a:srgbClr val="C8A951"/>
          </a:solidFill>
          <a:ln w="12700">
            <a:solidFill>
              <a:srgbClr val="C8A951">
                <a:alpha val="0"/>
              </a:srgbClr>
            </a:solidFill>
            <a:prstDash val="solid"/>
          </a:ln>
        </p:spPr>
      </p:sp>
      <p:sp>
        <p:nvSpPr>
          <p:cNvPr id="34" name="Text 30"/>
          <p:cNvSpPr/>
          <p:nvPr/>
        </p:nvSpPr>
        <p:spPr>
          <a:xfrm>
            <a:off x="10149840" y="777240"/>
            <a:ext cx="1188720" cy="164592"/>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Đăng ký ngay</a:t>
            </a:r>
            <a:endParaRPr lang="vi-VN" sz="800" dirty="0"/>
          </a:p>
        </p:txBody>
      </p:sp>
      <p:sp>
        <p:nvSpPr>
          <p:cNvPr id="35" name="Shape 31"/>
          <p:cNvSpPr/>
          <p:nvPr/>
        </p:nvSpPr>
        <p:spPr>
          <a:xfrm>
            <a:off x="7040880" y="1225296"/>
            <a:ext cx="4471416" cy="1152144"/>
          </a:xfrm>
          <a:prstGeom prst="rect">
            <a:avLst/>
          </a:prstGeom>
          <a:solidFill>
            <a:srgbClr val="0D7377">
              <a:alpha val="98000"/>
            </a:srgbClr>
          </a:solidFill>
          <a:ln w="12700">
            <a:solidFill>
              <a:srgbClr val="0D7377">
                <a:alpha val="0"/>
              </a:srgbClr>
            </a:solidFill>
            <a:prstDash val="solid"/>
          </a:ln>
        </p:spPr>
      </p:sp>
      <p:pic>
        <p:nvPicPr>
          <p:cNvPr id="36" name="Image 2" descr="preencoded.png">    </p:cNvPr>
          <p:cNvPicPr>
            <a:picLocks noChangeAspect="1"/>
          </p:cNvPicPr>
          <p:nvPr/>
        </p:nvPicPr>
        <p:blipFill>
          <a:blip r:embed="rId5">
            <a:alphaModFix amt="38000"/>
            <a:extLst>
              <a:ext uri="{96DAC541-7B7A-43D3-8B79-37D633B846F1}">
                <asvg:svgBlip xmlns:asvg="http://schemas.microsoft.com/office/drawing/2016/SVG/main" r:embed="rId6"/>
              </a:ext>
            </a:extLst>
          </a:blip>
          <a:stretch>
            <a:fillRect/>
          </a:stretch>
        </p:blipFill>
        <p:spPr>
          <a:xfrm>
            <a:off x="9848088" y="1280160"/>
            <a:ext cx="1426464" cy="1005840"/>
          </a:xfrm>
          <a:prstGeom prst="rect">
            <a:avLst/>
          </a:prstGeom>
        </p:spPr>
      </p:pic>
      <p:sp>
        <p:nvSpPr>
          <p:cNvPr id="37" name="Text 32"/>
          <p:cNvSpPr/>
          <p:nvPr/>
        </p:nvSpPr>
        <p:spPr>
          <a:xfrm>
            <a:off x="7104888" y="1362456"/>
            <a:ext cx="1600200" cy="219456"/>
          </a:xfrm>
          <a:prstGeom prst="rect">
            <a:avLst/>
          </a:prstGeom>
          <a:noFill/>
          <a:ln/>
        </p:spPr>
        <p:txBody>
          <a:bodyPr wrap="square" lIns="0" tIns="0" rIns="0" bIns="0" rtlCol="0" anchor="t"/>
          <a:lstStyle/>
          <a:p>
            <a:pPr algn="l" indent="0" marL="0">
              <a:buNone/>
            </a:pPr>
            <a:r>
              <a:rPr lang="vi-VN" altLang="en-US" sz="900" b="1" dirty="0">
                <a:solidFill>
                  <a:srgbClr val="F5E8BE"/>
                </a:solidFill>
                <a:latin typeface="Arial" pitchFamily="34" charset="0"/>
                <a:ea typeface="Arial" pitchFamily="34" charset="-122"/>
                <a:cs typeface="Arial" pitchFamily="34" charset="-120"/>
              </a:rPr>
              <a:t>ACM23 HANOI 2026</a:t>
            </a:r>
            <a:endParaRPr lang="vi-VN" sz="900" dirty="0"/>
          </a:p>
        </p:txBody>
      </p:sp>
      <p:sp>
        <p:nvSpPr>
          <p:cNvPr id="38" name="Text 33"/>
          <p:cNvSpPr/>
          <p:nvPr/>
        </p:nvSpPr>
        <p:spPr>
          <a:xfrm>
            <a:off x="7104888" y="1600200"/>
            <a:ext cx="2651760" cy="438912"/>
          </a:xfrm>
          <a:prstGeom prst="rect">
            <a:avLst/>
          </a:prstGeom>
          <a:noFill/>
          <a:ln/>
        </p:spPr>
        <p:txBody>
          <a:bodyPr wrap="square" lIns="0" tIns="0" rIns="0" bIns="0" rtlCol="0" anchor="t"/>
          <a:lstStyle/>
          <a:p>
            <a:pPr algn="l" indent="0" marL="0">
              <a:buNone/>
            </a:pPr>
            <a:r>
              <a:rPr lang="vi-VN" altLang="en-US" sz="1600" b="1" dirty="0">
                <a:solidFill>
                  <a:srgbClr val="FFFFFF"/>
                </a:solidFill>
                <a:latin typeface="Georgia" pitchFamily="34" charset="0"/>
                <a:ea typeface="Georgia" pitchFamily="34" charset="-122"/>
                <a:cs typeface="Georgia" pitchFamily="34" charset="-120"/>
              </a:rPr>
              <a:t>Cổng thông tin hội nghị khoa học quốc tế tại Hà Nội</a:t>
            </a:r>
            <a:endParaRPr lang="vi-VN" sz="1600" dirty="0"/>
          </a:p>
        </p:txBody>
      </p:sp>
      <p:sp>
        <p:nvSpPr>
          <p:cNvPr id="39" name="Shape 34"/>
          <p:cNvSpPr/>
          <p:nvPr/>
        </p:nvSpPr>
        <p:spPr>
          <a:xfrm>
            <a:off x="7104888" y="2075688"/>
            <a:ext cx="841248" cy="201168"/>
          </a:xfrm>
          <a:prstGeom prst="roundRect">
            <a:avLst>
              <a:gd name="adj" fmla="val 36364"/>
            </a:avLst>
          </a:prstGeom>
          <a:solidFill>
            <a:srgbClr val="C8A951"/>
          </a:solidFill>
          <a:ln w="12700">
            <a:solidFill>
              <a:srgbClr val="C8A951">
                <a:alpha val="0"/>
              </a:srgbClr>
            </a:solidFill>
            <a:prstDash val="solid"/>
          </a:ln>
        </p:spPr>
      </p:sp>
      <p:sp>
        <p:nvSpPr>
          <p:cNvPr id="40" name="Text 35"/>
          <p:cNvSpPr/>
          <p:nvPr/>
        </p:nvSpPr>
        <p:spPr>
          <a:xfrm>
            <a:off x="7104888" y="2103120"/>
            <a:ext cx="841248" cy="182880"/>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10/2026</a:t>
            </a:r>
            <a:endParaRPr lang="vi-VN" sz="800" dirty="0"/>
          </a:p>
        </p:txBody>
      </p:sp>
      <p:sp>
        <p:nvSpPr>
          <p:cNvPr id="41" name="Shape 36"/>
          <p:cNvSpPr/>
          <p:nvPr/>
        </p:nvSpPr>
        <p:spPr>
          <a:xfrm>
            <a:off x="8019288" y="2075688"/>
            <a:ext cx="1170432" cy="201168"/>
          </a:xfrm>
          <a:prstGeom prst="roundRect">
            <a:avLst>
              <a:gd name="adj" fmla="val 36364"/>
            </a:avLst>
          </a:prstGeom>
          <a:solidFill>
            <a:srgbClr val="0AD3A1"/>
          </a:solidFill>
          <a:ln w="12700">
            <a:solidFill>
              <a:srgbClr val="0AD3A1">
                <a:alpha val="0"/>
              </a:srgbClr>
            </a:solidFill>
            <a:prstDash val="solid"/>
          </a:ln>
        </p:spPr>
      </p:sp>
      <p:sp>
        <p:nvSpPr>
          <p:cNvPr id="42" name="Text 37"/>
          <p:cNvSpPr/>
          <p:nvPr/>
        </p:nvSpPr>
        <p:spPr>
          <a:xfrm>
            <a:off x="8019288" y="2103120"/>
            <a:ext cx="1170432" cy="182880"/>
          </a:xfrm>
          <a:prstGeom prst="rect">
            <a:avLst/>
          </a:prstGeom>
          <a:noFill/>
          <a:ln/>
        </p:spPr>
        <p:txBody>
          <a:bodyPr wrap="square" lIns="0" tIns="0" rIns="0" bIns="0" rtlCol="0" anchor="ctr"/>
          <a:lstStyle/>
          <a:p>
            <a:pPr algn="ctr" indent="0" marL="0">
              <a:buNone/>
            </a:pPr>
            <a:r>
              <a:rPr lang="vi-VN" altLang="en-US" sz="800" b="1" dirty="0">
                <a:solidFill>
                  <a:srgbClr val="1A2332"/>
                </a:solidFill>
                <a:latin typeface="Arial" pitchFamily="34" charset="0"/>
                <a:ea typeface="Arial" pitchFamily="34" charset="-122"/>
                <a:cs typeface="Arial" pitchFamily="34" charset="-120"/>
              </a:rPr>
              <a:t>Hà Nội</a:t>
            </a:r>
            <a:endParaRPr lang="vi-VN" sz="800" dirty="0"/>
          </a:p>
        </p:txBody>
      </p:sp>
      <p:sp>
        <p:nvSpPr>
          <p:cNvPr id="43" name="Shape 38"/>
          <p:cNvSpPr/>
          <p:nvPr/>
        </p:nvSpPr>
        <p:spPr>
          <a:xfrm>
            <a:off x="7077456" y="2642616"/>
            <a:ext cx="4398264" cy="512064"/>
          </a:xfrm>
          <a:prstGeom prst="roundRect">
            <a:avLst>
              <a:gd name="adj" fmla="val 14286"/>
            </a:avLst>
          </a:prstGeom>
          <a:solidFill>
            <a:srgbClr val="D9F1F2"/>
          </a:solidFill>
          <a:ln w="12700">
            <a:solidFill>
              <a:srgbClr val="D9F1F2">
                <a:alpha val="0"/>
              </a:srgbClr>
            </a:solidFill>
            <a:prstDash val="solid"/>
          </a:ln>
        </p:spPr>
      </p:sp>
      <p:sp>
        <p:nvSpPr>
          <p:cNvPr id="44" name="Shape 39"/>
          <p:cNvSpPr/>
          <p:nvPr/>
        </p:nvSpPr>
        <p:spPr>
          <a:xfrm>
            <a:off x="7223760" y="2752344"/>
            <a:ext cx="841248" cy="164592"/>
          </a:xfrm>
          <a:prstGeom prst="roundRect">
            <a:avLst>
              <a:gd name="adj" fmla="val 44444"/>
            </a:avLst>
          </a:prstGeom>
          <a:solidFill>
            <a:srgbClr val="1A2332"/>
          </a:solidFill>
          <a:ln w="12700">
            <a:solidFill>
              <a:srgbClr val="1A2332">
                <a:alpha val="0"/>
              </a:srgbClr>
            </a:solidFill>
            <a:prstDash val="solid"/>
          </a:ln>
        </p:spPr>
      </p:sp>
      <p:sp>
        <p:nvSpPr>
          <p:cNvPr id="45" name="Text 40"/>
          <p:cNvSpPr/>
          <p:nvPr/>
        </p:nvSpPr>
        <p:spPr>
          <a:xfrm>
            <a:off x="7223760" y="2779776"/>
            <a:ext cx="841248" cy="146304"/>
          </a:xfrm>
          <a:prstGeom prst="rect">
            <a:avLst/>
          </a:prstGeom>
          <a:noFill/>
          <a:ln/>
        </p:spPr>
        <p:txBody>
          <a:bodyPr wrap="square" lIns="0" tIns="0" rIns="0" bIns="0" rtlCol="0" anchor="ctr"/>
          <a:lstStyle/>
          <a:p>
            <a:pPr algn="ctr" indent="0" marL="0">
              <a:buNone/>
            </a:pPr>
            <a:r>
              <a:rPr lang="vi-VN" altLang="en-US" sz="800" b="1" dirty="0">
                <a:solidFill>
                  <a:srgbClr val="FFFFFF"/>
                </a:solidFill>
                <a:latin typeface="Arial" pitchFamily="34" charset="0"/>
                <a:ea typeface="Arial" pitchFamily="34" charset="-122"/>
                <a:cs typeface="Arial" pitchFamily="34" charset="-120"/>
              </a:rPr>
              <a:t>Điểm nổi bật</a:t>
            </a:r>
            <a:endParaRPr lang="vi-VN" sz="800" dirty="0"/>
          </a:p>
        </p:txBody>
      </p:sp>
      <p:sp>
        <p:nvSpPr>
          <p:cNvPr id="46" name="Text 41"/>
          <p:cNvSpPr/>
          <p:nvPr/>
        </p:nvSpPr>
        <p:spPr>
          <a:xfrm>
            <a:off x="8229600" y="2752344"/>
            <a:ext cx="2697480" cy="219456"/>
          </a:xfrm>
          <a:prstGeom prst="rect">
            <a:avLst/>
          </a:prstGeom>
          <a:noFill/>
          <a:ln/>
        </p:spPr>
        <p:txBody>
          <a:bodyPr wrap="square" lIns="0" tIns="0" rIns="0" bIns="0" rtlCol="0" anchor="t"/>
          <a:lstStyle/>
          <a:p>
            <a:pPr algn="l" indent="0" marL="0">
              <a:buNone/>
            </a:pPr>
            <a:r>
              <a:rPr lang="vi-VN" altLang="en-US" sz="1000" b="1" dirty="0">
                <a:solidFill>
                  <a:srgbClr val="1A2332"/>
                </a:solidFill>
                <a:latin typeface="Arial" pitchFamily="34" charset="0"/>
                <a:ea typeface="Arial" pitchFamily="34" charset="-122"/>
                <a:cs typeface="Arial" pitchFamily="34" charset="-120"/>
              </a:rPr>
              <a:t>Thông điệp rõ ràng, CTA nổi bật</a:t>
            </a:r>
            <a:endParaRPr lang="vi-VN" sz="1000" dirty="0"/>
          </a:p>
        </p:txBody>
      </p:sp>
      <p:sp>
        <p:nvSpPr>
          <p:cNvPr id="47" name="Shape 42"/>
          <p:cNvSpPr/>
          <p:nvPr/>
        </p:nvSpPr>
        <p:spPr>
          <a:xfrm>
            <a:off x="7077456" y="3328416"/>
            <a:ext cx="4398264" cy="512064"/>
          </a:xfrm>
          <a:prstGeom prst="roundRect">
            <a:avLst>
              <a:gd name="adj" fmla="val 14286"/>
            </a:avLst>
          </a:prstGeom>
          <a:solidFill>
            <a:srgbClr val="F5E8BE"/>
          </a:solidFill>
          <a:ln w="12700">
            <a:solidFill>
              <a:srgbClr val="F5E8BE">
                <a:alpha val="0"/>
              </a:srgbClr>
            </a:solidFill>
            <a:prstDash val="solid"/>
          </a:ln>
        </p:spPr>
      </p:sp>
      <p:sp>
        <p:nvSpPr>
          <p:cNvPr id="48" name="Shape 43"/>
          <p:cNvSpPr/>
          <p:nvPr/>
        </p:nvSpPr>
        <p:spPr>
          <a:xfrm>
            <a:off x="7223760" y="3438144"/>
            <a:ext cx="841248" cy="164592"/>
          </a:xfrm>
          <a:prstGeom prst="roundRect">
            <a:avLst>
              <a:gd name="adj" fmla="val 44444"/>
            </a:avLst>
          </a:prstGeom>
          <a:solidFill>
            <a:srgbClr val="1A2332"/>
          </a:solidFill>
          <a:ln w="12700">
            <a:solidFill>
              <a:srgbClr val="1A2332">
                <a:alpha val="0"/>
              </a:srgbClr>
            </a:solidFill>
            <a:prstDash val="solid"/>
          </a:ln>
        </p:spPr>
      </p:sp>
      <p:sp>
        <p:nvSpPr>
          <p:cNvPr id="49" name="Text 44"/>
          <p:cNvSpPr/>
          <p:nvPr/>
        </p:nvSpPr>
        <p:spPr>
          <a:xfrm>
            <a:off x="7223760" y="3465576"/>
            <a:ext cx="841248" cy="146304"/>
          </a:xfrm>
          <a:prstGeom prst="rect">
            <a:avLst/>
          </a:prstGeom>
          <a:noFill/>
          <a:ln/>
        </p:spPr>
        <p:txBody>
          <a:bodyPr wrap="square" lIns="0" tIns="0" rIns="0" bIns="0" rtlCol="0" anchor="ctr"/>
          <a:lstStyle/>
          <a:p>
            <a:pPr algn="ctr" indent="0" marL="0">
              <a:buNone/>
            </a:pPr>
            <a:r>
              <a:rPr lang="vi-VN" altLang="en-US" sz="800" b="1" dirty="0">
                <a:solidFill>
                  <a:srgbClr val="FFFFFF"/>
                </a:solidFill>
                <a:latin typeface="Arial" pitchFamily="34" charset="0"/>
                <a:ea typeface="Arial" pitchFamily="34" charset="-122"/>
                <a:cs typeface="Arial" pitchFamily="34" charset="-120"/>
              </a:rPr>
              <a:t>Lịch</a:t>
            </a:r>
            <a:endParaRPr lang="vi-VN" sz="800" dirty="0"/>
          </a:p>
        </p:txBody>
      </p:sp>
      <p:sp>
        <p:nvSpPr>
          <p:cNvPr id="50" name="Text 45"/>
          <p:cNvSpPr/>
          <p:nvPr/>
        </p:nvSpPr>
        <p:spPr>
          <a:xfrm>
            <a:off x="8229600" y="3438144"/>
            <a:ext cx="2697480" cy="219456"/>
          </a:xfrm>
          <a:prstGeom prst="rect">
            <a:avLst/>
          </a:prstGeom>
          <a:noFill/>
          <a:ln/>
        </p:spPr>
        <p:txBody>
          <a:bodyPr wrap="square" lIns="0" tIns="0" rIns="0" bIns="0" rtlCol="0" anchor="t"/>
          <a:lstStyle/>
          <a:p>
            <a:pPr algn="l" indent="0" marL="0">
              <a:buNone/>
            </a:pPr>
            <a:r>
              <a:rPr lang="vi-VN" altLang="en-US" sz="1000" b="1" dirty="0">
                <a:solidFill>
                  <a:srgbClr val="1A2332"/>
                </a:solidFill>
                <a:latin typeface="Arial" pitchFamily="34" charset="0"/>
                <a:ea typeface="Arial" pitchFamily="34" charset="-122"/>
                <a:cs typeface="Arial" pitchFamily="34" charset="-120"/>
              </a:rPr>
              <a:t>Timeline các mốc quan trọng</a:t>
            </a:r>
            <a:endParaRPr lang="vi-VN" sz="1000" dirty="0"/>
          </a:p>
        </p:txBody>
      </p:sp>
      <p:sp>
        <p:nvSpPr>
          <p:cNvPr id="51" name="Shape 46"/>
          <p:cNvSpPr/>
          <p:nvPr/>
        </p:nvSpPr>
        <p:spPr>
          <a:xfrm>
            <a:off x="7077456" y="4014216"/>
            <a:ext cx="4398264" cy="512064"/>
          </a:xfrm>
          <a:prstGeom prst="roundRect">
            <a:avLst>
              <a:gd name="adj" fmla="val 14286"/>
            </a:avLst>
          </a:prstGeom>
          <a:solidFill>
            <a:srgbClr val="E7F2FF"/>
          </a:solidFill>
          <a:ln w="12700">
            <a:solidFill>
              <a:srgbClr val="E7F2FF">
                <a:alpha val="0"/>
              </a:srgbClr>
            </a:solidFill>
            <a:prstDash val="solid"/>
          </a:ln>
        </p:spPr>
      </p:sp>
      <p:sp>
        <p:nvSpPr>
          <p:cNvPr id="52" name="Shape 47"/>
          <p:cNvSpPr/>
          <p:nvPr/>
        </p:nvSpPr>
        <p:spPr>
          <a:xfrm>
            <a:off x="7223760" y="4123944"/>
            <a:ext cx="841248" cy="164592"/>
          </a:xfrm>
          <a:prstGeom prst="roundRect">
            <a:avLst>
              <a:gd name="adj" fmla="val 44444"/>
            </a:avLst>
          </a:prstGeom>
          <a:solidFill>
            <a:srgbClr val="1A2332"/>
          </a:solidFill>
          <a:ln w="12700">
            <a:solidFill>
              <a:srgbClr val="1A2332">
                <a:alpha val="0"/>
              </a:srgbClr>
            </a:solidFill>
            <a:prstDash val="solid"/>
          </a:ln>
        </p:spPr>
      </p:sp>
      <p:sp>
        <p:nvSpPr>
          <p:cNvPr id="53" name="Text 48"/>
          <p:cNvSpPr/>
          <p:nvPr/>
        </p:nvSpPr>
        <p:spPr>
          <a:xfrm>
            <a:off x="7223760" y="4151376"/>
            <a:ext cx="841248" cy="146304"/>
          </a:xfrm>
          <a:prstGeom prst="rect">
            <a:avLst/>
          </a:prstGeom>
          <a:noFill/>
          <a:ln/>
        </p:spPr>
        <p:txBody>
          <a:bodyPr wrap="square" lIns="0" tIns="0" rIns="0" bIns="0" rtlCol="0" anchor="ctr"/>
          <a:lstStyle/>
          <a:p>
            <a:pPr algn="ctr" indent="0" marL="0">
              <a:buNone/>
            </a:pPr>
            <a:r>
              <a:rPr lang="vi-VN" altLang="en-US" sz="800" b="1" dirty="0">
                <a:solidFill>
                  <a:srgbClr val="FFFFFF"/>
                </a:solidFill>
                <a:latin typeface="Arial" pitchFamily="34" charset="0"/>
                <a:ea typeface="Arial" pitchFamily="34" charset="-122"/>
                <a:cs typeface="Arial" pitchFamily="34" charset="-120"/>
              </a:rPr>
              <a:t>Chương trình</a:t>
            </a:r>
            <a:endParaRPr lang="vi-VN" sz="800" dirty="0"/>
          </a:p>
        </p:txBody>
      </p:sp>
      <p:sp>
        <p:nvSpPr>
          <p:cNvPr id="54" name="Text 49"/>
          <p:cNvSpPr/>
          <p:nvPr/>
        </p:nvSpPr>
        <p:spPr>
          <a:xfrm>
            <a:off x="8229600" y="4123944"/>
            <a:ext cx="2697480" cy="219456"/>
          </a:xfrm>
          <a:prstGeom prst="rect">
            <a:avLst/>
          </a:prstGeom>
          <a:noFill/>
          <a:ln/>
        </p:spPr>
        <p:txBody>
          <a:bodyPr wrap="square" lIns="0" tIns="0" rIns="0" bIns="0" rtlCol="0" anchor="t"/>
          <a:lstStyle/>
          <a:p>
            <a:pPr algn="l" indent="0" marL="0">
              <a:buNone/>
            </a:pPr>
            <a:r>
              <a:rPr lang="vi-VN" altLang="en-US" sz="1000" b="1" dirty="0">
                <a:solidFill>
                  <a:srgbClr val="1A2332"/>
                </a:solidFill>
                <a:latin typeface="Arial" pitchFamily="34" charset="0"/>
                <a:ea typeface="Arial" pitchFamily="34" charset="-122"/>
                <a:cs typeface="Arial" pitchFamily="34" charset="-120"/>
              </a:rPr>
              <a:t>Phiên khoa học, diễn giả, workshop</a:t>
            </a:r>
            <a:endParaRPr lang="vi-VN" sz="1000" dirty="0"/>
          </a:p>
        </p:txBody>
      </p:sp>
      <p:sp>
        <p:nvSpPr>
          <p:cNvPr id="55" name="Shape 50"/>
          <p:cNvSpPr/>
          <p:nvPr/>
        </p:nvSpPr>
        <p:spPr>
          <a:xfrm>
            <a:off x="7077456" y="4700016"/>
            <a:ext cx="4398264" cy="512064"/>
          </a:xfrm>
          <a:prstGeom prst="roundRect">
            <a:avLst>
              <a:gd name="adj" fmla="val 14286"/>
            </a:avLst>
          </a:prstGeom>
          <a:solidFill>
            <a:srgbClr val="E7FBF6"/>
          </a:solidFill>
          <a:ln w="12700">
            <a:solidFill>
              <a:srgbClr val="E7FBF6">
                <a:alpha val="0"/>
              </a:srgbClr>
            </a:solidFill>
            <a:prstDash val="solid"/>
          </a:ln>
        </p:spPr>
      </p:sp>
      <p:sp>
        <p:nvSpPr>
          <p:cNvPr id="56" name="Shape 51"/>
          <p:cNvSpPr/>
          <p:nvPr/>
        </p:nvSpPr>
        <p:spPr>
          <a:xfrm>
            <a:off x="7223760" y="4809744"/>
            <a:ext cx="841248" cy="164592"/>
          </a:xfrm>
          <a:prstGeom prst="roundRect">
            <a:avLst>
              <a:gd name="adj" fmla="val 44444"/>
            </a:avLst>
          </a:prstGeom>
          <a:solidFill>
            <a:srgbClr val="1A2332"/>
          </a:solidFill>
          <a:ln w="12700">
            <a:solidFill>
              <a:srgbClr val="1A2332">
                <a:alpha val="0"/>
              </a:srgbClr>
            </a:solidFill>
            <a:prstDash val="solid"/>
          </a:ln>
        </p:spPr>
      </p:sp>
      <p:sp>
        <p:nvSpPr>
          <p:cNvPr id="57" name="Text 52"/>
          <p:cNvSpPr/>
          <p:nvPr/>
        </p:nvSpPr>
        <p:spPr>
          <a:xfrm>
            <a:off x="7223760" y="4837176"/>
            <a:ext cx="841248" cy="146304"/>
          </a:xfrm>
          <a:prstGeom prst="rect">
            <a:avLst/>
          </a:prstGeom>
          <a:noFill/>
          <a:ln/>
        </p:spPr>
        <p:txBody>
          <a:bodyPr wrap="square" lIns="0" tIns="0" rIns="0" bIns="0" rtlCol="0" anchor="ctr"/>
          <a:lstStyle/>
          <a:p>
            <a:pPr algn="ctr" indent="0" marL="0">
              <a:buNone/>
            </a:pPr>
            <a:r>
              <a:rPr lang="vi-VN" altLang="en-US" sz="800" b="1" dirty="0">
                <a:solidFill>
                  <a:srgbClr val="FFFFFF"/>
                </a:solidFill>
                <a:latin typeface="Arial" pitchFamily="34" charset="0"/>
                <a:ea typeface="Arial" pitchFamily="34" charset="-122"/>
                <a:cs typeface="Arial" pitchFamily="34" charset="-120"/>
              </a:rPr>
              <a:t>Hà Nội</a:t>
            </a:r>
            <a:endParaRPr lang="vi-VN" sz="800" dirty="0"/>
          </a:p>
        </p:txBody>
      </p:sp>
      <p:sp>
        <p:nvSpPr>
          <p:cNvPr id="58" name="Text 53"/>
          <p:cNvSpPr/>
          <p:nvPr/>
        </p:nvSpPr>
        <p:spPr>
          <a:xfrm>
            <a:off x="8229600" y="4809744"/>
            <a:ext cx="2697480" cy="219456"/>
          </a:xfrm>
          <a:prstGeom prst="rect">
            <a:avLst/>
          </a:prstGeom>
          <a:noFill/>
          <a:ln/>
        </p:spPr>
        <p:txBody>
          <a:bodyPr wrap="square" lIns="0" tIns="0" rIns="0" bIns="0" rtlCol="0" anchor="t"/>
          <a:lstStyle/>
          <a:p>
            <a:pPr algn="l" indent="0" marL="0">
              <a:buNone/>
            </a:pPr>
            <a:r>
              <a:rPr lang="vi-VN" altLang="en-US" sz="1000" b="1" dirty="0">
                <a:solidFill>
                  <a:srgbClr val="1A2332"/>
                </a:solidFill>
                <a:latin typeface="Arial" pitchFamily="34" charset="0"/>
                <a:ea typeface="Arial" pitchFamily="34" charset="-122"/>
                <a:cs typeface="Arial" pitchFamily="34" charset="-120"/>
              </a:rPr>
              <a:t>Địa điểm, lưu trú, di chuyển, trải nghiệm</a:t>
            </a:r>
            <a:endParaRPr lang="vi-VN" sz="1000" dirty="0"/>
          </a:p>
        </p:txBody>
      </p:sp>
      <p:sp>
        <p:nvSpPr>
          <p:cNvPr id="59" name="Shape 54"/>
          <p:cNvSpPr/>
          <p:nvPr/>
        </p:nvSpPr>
        <p:spPr>
          <a:xfrm>
            <a:off x="7040880" y="5669280"/>
            <a:ext cx="4471416" cy="438912"/>
          </a:xfrm>
          <a:prstGeom prst="rect">
            <a:avLst/>
          </a:prstGeom>
          <a:solidFill>
            <a:srgbClr val="F8FBFC"/>
          </a:solidFill>
          <a:ln w="12700">
            <a:solidFill>
              <a:srgbClr val="E2EBEF"/>
            </a:solidFill>
            <a:prstDash val="solid"/>
          </a:ln>
        </p:spPr>
      </p:sp>
      <p:sp>
        <p:nvSpPr>
          <p:cNvPr id="60" name="Text 55"/>
          <p:cNvSpPr/>
          <p:nvPr/>
        </p:nvSpPr>
        <p:spPr>
          <a:xfrm>
            <a:off x="7168896" y="5815584"/>
            <a:ext cx="731520" cy="128016"/>
          </a:xfrm>
          <a:prstGeom prst="rect">
            <a:avLst/>
          </a:prstGeom>
          <a:noFill/>
          <a:ln/>
        </p:spPr>
        <p:txBody>
          <a:bodyPr wrap="square" lIns="0" tIns="0" rIns="0" bIns="0" rtlCol="0" anchor="t"/>
          <a:lstStyle/>
          <a:p>
            <a:pPr algn="ctr" indent="0" marL="0">
              <a:buNone/>
            </a:pPr>
            <a:r>
              <a:rPr lang="vi-VN" altLang="en-US" sz="700" dirty="0">
                <a:solidFill>
                  <a:srgbClr val="425466"/>
                </a:solidFill>
                <a:latin typeface="Arial" pitchFamily="34" charset="0"/>
                <a:ea typeface="Arial" pitchFamily="34" charset="-122"/>
                <a:cs typeface="Arial" pitchFamily="34" charset="-120"/>
              </a:rPr>
              <a:t>Giới thiệu ACM</a:t>
            </a:r>
            <a:endParaRPr lang="vi-VN" sz="700" dirty="0"/>
          </a:p>
        </p:txBody>
      </p:sp>
      <p:sp>
        <p:nvSpPr>
          <p:cNvPr id="61" name="Text 56"/>
          <p:cNvSpPr/>
          <p:nvPr/>
        </p:nvSpPr>
        <p:spPr>
          <a:xfrm>
            <a:off x="8037576" y="5815584"/>
            <a:ext cx="731520" cy="128016"/>
          </a:xfrm>
          <a:prstGeom prst="rect">
            <a:avLst/>
          </a:prstGeom>
          <a:noFill/>
          <a:ln/>
        </p:spPr>
        <p:txBody>
          <a:bodyPr wrap="square" lIns="0" tIns="0" rIns="0" bIns="0" rtlCol="0" anchor="t"/>
          <a:lstStyle/>
          <a:p>
            <a:pPr algn="ctr" indent="0" marL="0">
              <a:buNone/>
            </a:pPr>
            <a:r>
              <a:rPr lang="vi-VN" altLang="en-US" sz="700" dirty="0">
                <a:solidFill>
                  <a:srgbClr val="425466"/>
                </a:solidFill>
                <a:latin typeface="Arial" pitchFamily="34" charset="0"/>
                <a:ea typeface="Arial" pitchFamily="34" charset="-122"/>
                <a:cs typeface="Arial" pitchFamily="34" charset="-120"/>
              </a:rPr>
              <a:t>Đăng ký</a:t>
            </a:r>
            <a:endParaRPr lang="vi-VN" sz="700" dirty="0"/>
          </a:p>
        </p:txBody>
      </p:sp>
      <p:sp>
        <p:nvSpPr>
          <p:cNvPr id="62" name="Text 57"/>
          <p:cNvSpPr/>
          <p:nvPr/>
        </p:nvSpPr>
        <p:spPr>
          <a:xfrm>
            <a:off x="8906256" y="5815584"/>
            <a:ext cx="731520" cy="128016"/>
          </a:xfrm>
          <a:prstGeom prst="rect">
            <a:avLst/>
          </a:prstGeom>
          <a:noFill/>
          <a:ln/>
        </p:spPr>
        <p:txBody>
          <a:bodyPr wrap="square" lIns="0" tIns="0" rIns="0" bIns="0" rtlCol="0" anchor="t"/>
          <a:lstStyle/>
          <a:p>
            <a:pPr algn="ctr" indent="0" marL="0">
              <a:buNone/>
            </a:pPr>
            <a:r>
              <a:rPr lang="vi-VN" altLang="en-US" sz="700" dirty="0">
                <a:solidFill>
                  <a:srgbClr val="425466"/>
                </a:solidFill>
                <a:latin typeface="Arial" pitchFamily="34" charset="0"/>
                <a:ea typeface="Arial" pitchFamily="34" charset="-122"/>
                <a:cs typeface="Arial" pitchFamily="34" charset="-120"/>
              </a:rPr>
              <a:t>Nộp tóm tắt</a:t>
            </a:r>
            <a:endParaRPr lang="vi-VN" sz="700" dirty="0"/>
          </a:p>
        </p:txBody>
      </p:sp>
      <p:sp>
        <p:nvSpPr>
          <p:cNvPr id="63" name="Text 58"/>
          <p:cNvSpPr/>
          <p:nvPr/>
        </p:nvSpPr>
        <p:spPr>
          <a:xfrm>
            <a:off x="9774936" y="5815584"/>
            <a:ext cx="731520" cy="128016"/>
          </a:xfrm>
          <a:prstGeom prst="rect">
            <a:avLst/>
          </a:prstGeom>
          <a:noFill/>
          <a:ln/>
        </p:spPr>
        <p:txBody>
          <a:bodyPr wrap="square" lIns="0" tIns="0" rIns="0" bIns="0" rtlCol="0" anchor="t"/>
          <a:lstStyle/>
          <a:p>
            <a:pPr algn="ctr" indent="0" marL="0">
              <a:buNone/>
            </a:pPr>
            <a:r>
              <a:rPr lang="vi-VN" altLang="en-US" sz="700" dirty="0">
                <a:solidFill>
                  <a:srgbClr val="425466"/>
                </a:solidFill>
                <a:latin typeface="Arial" pitchFamily="34" charset="0"/>
                <a:ea typeface="Arial" pitchFamily="34" charset="-122"/>
                <a:cs typeface="Arial" pitchFamily="34" charset="-120"/>
              </a:rPr>
              <a:t>FAQ</a:t>
            </a:r>
            <a:endParaRPr lang="vi-VN" sz="700" dirty="0"/>
          </a:p>
        </p:txBody>
      </p:sp>
      <p:sp>
        <p:nvSpPr>
          <p:cNvPr id="64" name="Text 59"/>
          <p:cNvSpPr/>
          <p:nvPr/>
        </p:nvSpPr>
        <p:spPr>
          <a:xfrm>
            <a:off x="10643616" y="5815584"/>
            <a:ext cx="731520" cy="128016"/>
          </a:xfrm>
          <a:prstGeom prst="rect">
            <a:avLst/>
          </a:prstGeom>
          <a:noFill/>
          <a:ln/>
        </p:spPr>
        <p:txBody>
          <a:bodyPr wrap="square" lIns="0" tIns="0" rIns="0" bIns="0" rtlCol="0" anchor="t"/>
          <a:lstStyle/>
          <a:p>
            <a:pPr algn="ctr" indent="0" marL="0">
              <a:buNone/>
            </a:pPr>
            <a:r>
              <a:rPr lang="vi-VN" altLang="en-US" sz="700" dirty="0">
                <a:solidFill>
                  <a:srgbClr val="425466"/>
                </a:solidFill>
                <a:latin typeface="Arial" pitchFamily="34" charset="0"/>
                <a:ea typeface="Arial" pitchFamily="34" charset="-122"/>
                <a:cs typeface="Arial" pitchFamily="34" charset="-120"/>
              </a:rPr>
              <a:t>Liên hệ</a:t>
            </a:r>
            <a:endParaRPr lang="vi-VN"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ACM23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ACM23 Conference Website Intro</dc:title>
  <dc:subject>Slide giới thiệu website ACM23</dc:subject>
  <dc:creator>OpenAI Codex</dc:creator>
  <cp:lastModifiedBy>OpenAI Codex</cp:lastModifiedBy>
  <cp:revision>1</cp:revision>
  <dcterms:created xsi:type="dcterms:W3CDTF">2026-04-04T14:53:41Z</dcterms:created>
  <dcterms:modified xsi:type="dcterms:W3CDTF">2026-04-04T14:53:41Z</dcterms:modified>
</cp:coreProperties>
</file>